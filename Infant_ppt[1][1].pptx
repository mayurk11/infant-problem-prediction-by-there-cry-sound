
<file path=[Content_Types].xml><?xml version="1.0" encoding="utf-8"?>
<Types xmlns="http://schemas.openxmlformats.org/package/2006/content-types">
  <Default Extension="fntdata" ContentType="application/x-fontdata"/>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6" r:id="rId2"/>
    <p:sldId id="257" r:id="rId3"/>
    <p:sldId id="278" r:id="rId4"/>
    <p:sldId id="279" r:id="rId5"/>
    <p:sldId id="280" r:id="rId6"/>
    <p:sldId id="269" r:id="rId7"/>
    <p:sldId id="281" r:id="rId8"/>
    <p:sldId id="275" r:id="rId9"/>
    <p:sldId id="282" r:id="rId10"/>
    <p:sldId id="263" r:id="rId11"/>
  </p:sldIdLst>
  <p:sldSz cx="9144000" cy="5143500" type="screen16x9"/>
  <p:notesSz cx="6858000" cy="9144000"/>
  <p:embeddedFontLst>
    <p:embeddedFont>
      <p:font typeface="Lato" panose="020F0502020204030203" pitchFamily="34" charset="0"/>
      <p:regular r:id="rId13"/>
      <p:bold r:id="rId14"/>
    </p:embeddedFont>
    <p:embeddedFont>
      <p:font typeface="Raleway" pitchFamily="2" charset="0"/>
      <p:regular r:id="rId15"/>
      <p:bold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291" autoAdjust="0"/>
  </p:normalViewPr>
  <p:slideViewPr>
    <p:cSldViewPr snapToGrid="0" showGuides="1">
      <p:cViewPr varScale="1">
        <p:scale>
          <a:sx n="111" d="100"/>
          <a:sy n="111" d="100"/>
        </p:scale>
        <p:origin x="634"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7920445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2f71ef2f3e5_1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 name="Google Shape;84;g2f71ef2f3e5_1_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022590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f71ef2f3e5_1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g2f71ef2f3e5_1_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82327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f71ef2f3e5_1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g2f71ef2f3e5_1_1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694380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panose="020F0502020204030203"/>
              <a:buChar char="●"/>
              <a:defRPr sz="1300">
                <a:solidFill>
                  <a:schemeClr val="accent1"/>
                </a:solidFill>
                <a:latin typeface="Lato" panose="020F0502020204030203"/>
                <a:ea typeface="Lato" panose="020F0502020204030203"/>
                <a:cs typeface="Lato" panose="020F0502020204030203"/>
                <a:sym typeface="Lato" panose="020F0502020204030203"/>
              </a:defRPr>
            </a:lvl1pPr>
            <a:lvl2pPr marL="914400" lvl="1" indent="-298450">
              <a:lnSpc>
                <a:spcPct val="115000"/>
              </a:lnSpc>
              <a:spcBef>
                <a:spcPts val="0"/>
              </a:spcBef>
              <a:spcAft>
                <a:spcPts val="0"/>
              </a:spcAft>
              <a:buClr>
                <a:schemeClr val="accent1"/>
              </a:buClr>
              <a:buSzPts val="1100"/>
              <a:buFont typeface="Lato" panose="020F0502020204030203"/>
              <a:buChar char="○"/>
              <a:defRPr sz="1100">
                <a:solidFill>
                  <a:schemeClr val="accent1"/>
                </a:solidFill>
                <a:latin typeface="Lato" panose="020F0502020204030203"/>
                <a:ea typeface="Lato" panose="020F0502020204030203"/>
                <a:cs typeface="Lato" panose="020F0502020204030203"/>
                <a:sym typeface="Lato" panose="020F0502020204030203"/>
              </a:defRPr>
            </a:lvl2pPr>
            <a:lvl3pPr marL="1371600" lvl="2" indent="-298450">
              <a:lnSpc>
                <a:spcPct val="115000"/>
              </a:lnSpc>
              <a:spcBef>
                <a:spcPts val="0"/>
              </a:spcBef>
              <a:spcAft>
                <a:spcPts val="0"/>
              </a:spcAft>
              <a:buClr>
                <a:schemeClr val="accent1"/>
              </a:buClr>
              <a:buSzPts val="1100"/>
              <a:buFont typeface="Lato" panose="020F0502020204030203"/>
              <a:buChar char="■"/>
              <a:defRPr sz="1100">
                <a:solidFill>
                  <a:schemeClr val="accent1"/>
                </a:solidFill>
                <a:latin typeface="Lato" panose="020F0502020204030203"/>
                <a:ea typeface="Lato" panose="020F0502020204030203"/>
                <a:cs typeface="Lato" panose="020F0502020204030203"/>
                <a:sym typeface="Lato" panose="020F0502020204030203"/>
              </a:defRPr>
            </a:lvl3pPr>
            <a:lvl4pPr marL="1828800" lvl="3" indent="-298450">
              <a:lnSpc>
                <a:spcPct val="115000"/>
              </a:lnSpc>
              <a:spcBef>
                <a:spcPts val="0"/>
              </a:spcBef>
              <a:spcAft>
                <a:spcPts val="0"/>
              </a:spcAft>
              <a:buClr>
                <a:schemeClr val="accent1"/>
              </a:buClr>
              <a:buSzPts val="1100"/>
              <a:buFont typeface="Lato" panose="020F0502020204030203"/>
              <a:buChar char="●"/>
              <a:defRPr sz="1100">
                <a:solidFill>
                  <a:schemeClr val="accent1"/>
                </a:solidFill>
                <a:latin typeface="Lato" panose="020F0502020204030203"/>
                <a:ea typeface="Lato" panose="020F0502020204030203"/>
                <a:cs typeface="Lato" panose="020F0502020204030203"/>
                <a:sym typeface="Lato" panose="020F0502020204030203"/>
              </a:defRPr>
            </a:lvl4pPr>
            <a:lvl5pPr marL="2286000" lvl="4" indent="-298450">
              <a:lnSpc>
                <a:spcPct val="115000"/>
              </a:lnSpc>
              <a:spcBef>
                <a:spcPts val="0"/>
              </a:spcBef>
              <a:spcAft>
                <a:spcPts val="0"/>
              </a:spcAft>
              <a:buClr>
                <a:schemeClr val="accent1"/>
              </a:buClr>
              <a:buSzPts val="1100"/>
              <a:buFont typeface="Lato" panose="020F0502020204030203"/>
              <a:buChar char="○"/>
              <a:defRPr sz="1100">
                <a:solidFill>
                  <a:schemeClr val="accent1"/>
                </a:solidFill>
                <a:latin typeface="Lato" panose="020F0502020204030203"/>
                <a:ea typeface="Lato" panose="020F0502020204030203"/>
                <a:cs typeface="Lato" panose="020F0502020204030203"/>
                <a:sym typeface="Lato" panose="020F0502020204030203"/>
              </a:defRPr>
            </a:lvl5pPr>
            <a:lvl6pPr marL="2743200" lvl="5" indent="-298450">
              <a:lnSpc>
                <a:spcPct val="115000"/>
              </a:lnSpc>
              <a:spcBef>
                <a:spcPts val="0"/>
              </a:spcBef>
              <a:spcAft>
                <a:spcPts val="0"/>
              </a:spcAft>
              <a:buClr>
                <a:schemeClr val="accent1"/>
              </a:buClr>
              <a:buSzPts val="1100"/>
              <a:buFont typeface="Lato" panose="020F0502020204030203"/>
              <a:buChar char="■"/>
              <a:defRPr sz="1100">
                <a:solidFill>
                  <a:schemeClr val="accent1"/>
                </a:solidFill>
                <a:latin typeface="Lato" panose="020F0502020204030203"/>
                <a:ea typeface="Lato" panose="020F0502020204030203"/>
                <a:cs typeface="Lato" panose="020F0502020204030203"/>
                <a:sym typeface="Lato" panose="020F0502020204030203"/>
              </a:defRPr>
            </a:lvl6pPr>
            <a:lvl7pPr marL="3200400" lvl="6" indent="-298450">
              <a:lnSpc>
                <a:spcPct val="115000"/>
              </a:lnSpc>
              <a:spcBef>
                <a:spcPts val="0"/>
              </a:spcBef>
              <a:spcAft>
                <a:spcPts val="0"/>
              </a:spcAft>
              <a:buClr>
                <a:schemeClr val="accent1"/>
              </a:buClr>
              <a:buSzPts val="1100"/>
              <a:buFont typeface="Lato" panose="020F0502020204030203"/>
              <a:buChar char="●"/>
              <a:defRPr sz="1100">
                <a:solidFill>
                  <a:schemeClr val="accent1"/>
                </a:solidFill>
                <a:latin typeface="Lato" panose="020F0502020204030203"/>
                <a:ea typeface="Lato" panose="020F0502020204030203"/>
                <a:cs typeface="Lato" panose="020F0502020204030203"/>
                <a:sym typeface="Lato" panose="020F0502020204030203"/>
              </a:defRPr>
            </a:lvl7pPr>
            <a:lvl8pPr marL="3657600" lvl="7" indent="-298450">
              <a:lnSpc>
                <a:spcPct val="115000"/>
              </a:lnSpc>
              <a:spcBef>
                <a:spcPts val="0"/>
              </a:spcBef>
              <a:spcAft>
                <a:spcPts val="0"/>
              </a:spcAft>
              <a:buClr>
                <a:schemeClr val="accent1"/>
              </a:buClr>
              <a:buSzPts val="1100"/>
              <a:buFont typeface="Lato" panose="020F0502020204030203"/>
              <a:buChar char="○"/>
              <a:defRPr sz="1100">
                <a:solidFill>
                  <a:schemeClr val="accent1"/>
                </a:solidFill>
                <a:latin typeface="Lato" panose="020F0502020204030203"/>
                <a:ea typeface="Lato" panose="020F0502020204030203"/>
                <a:cs typeface="Lato" panose="020F0502020204030203"/>
                <a:sym typeface="Lato" panose="020F0502020204030203"/>
              </a:defRPr>
            </a:lvl8pPr>
            <a:lvl9pPr marL="4114800" lvl="8" indent="-298450">
              <a:lnSpc>
                <a:spcPct val="115000"/>
              </a:lnSpc>
              <a:spcBef>
                <a:spcPts val="0"/>
              </a:spcBef>
              <a:spcAft>
                <a:spcPts val="0"/>
              </a:spcAft>
              <a:buClr>
                <a:schemeClr val="accent1"/>
              </a:buClr>
              <a:buSzPts val="1100"/>
              <a:buFont typeface="Lato" panose="020F0502020204030203"/>
              <a:buChar char="■"/>
              <a:defRPr sz="1100">
                <a:solidFill>
                  <a:schemeClr val="accent1"/>
                </a:solidFill>
                <a:latin typeface="Lato" panose="020F0502020204030203"/>
                <a:ea typeface="Lato" panose="020F0502020204030203"/>
                <a:cs typeface="Lato" panose="020F0502020204030203"/>
                <a:sym typeface="Lato" panose="020F0502020204030203"/>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panose="020F0502020204030203"/>
                <a:ea typeface="Lato" panose="020F0502020204030203"/>
                <a:cs typeface="Lato" panose="020F0502020204030203"/>
                <a:sym typeface="Lato" panose="020F0502020204030203"/>
              </a:defRPr>
            </a:lvl1pPr>
            <a:lvl2pPr lvl="1" algn="r">
              <a:buNone/>
              <a:defRPr sz="1000">
                <a:solidFill>
                  <a:schemeClr val="accent1"/>
                </a:solidFill>
                <a:latin typeface="Lato" panose="020F0502020204030203"/>
                <a:ea typeface="Lato" panose="020F0502020204030203"/>
                <a:cs typeface="Lato" panose="020F0502020204030203"/>
                <a:sym typeface="Lato" panose="020F0502020204030203"/>
              </a:defRPr>
            </a:lvl2pPr>
            <a:lvl3pPr lvl="2" algn="r">
              <a:buNone/>
              <a:defRPr sz="1000">
                <a:solidFill>
                  <a:schemeClr val="accent1"/>
                </a:solidFill>
                <a:latin typeface="Lato" panose="020F0502020204030203"/>
                <a:ea typeface="Lato" panose="020F0502020204030203"/>
                <a:cs typeface="Lato" panose="020F0502020204030203"/>
                <a:sym typeface="Lato" panose="020F0502020204030203"/>
              </a:defRPr>
            </a:lvl3pPr>
            <a:lvl4pPr lvl="3" algn="r">
              <a:buNone/>
              <a:defRPr sz="1000">
                <a:solidFill>
                  <a:schemeClr val="accent1"/>
                </a:solidFill>
                <a:latin typeface="Lato" panose="020F0502020204030203"/>
                <a:ea typeface="Lato" panose="020F0502020204030203"/>
                <a:cs typeface="Lato" panose="020F0502020204030203"/>
                <a:sym typeface="Lato" panose="020F0502020204030203"/>
              </a:defRPr>
            </a:lvl4pPr>
            <a:lvl5pPr lvl="4" algn="r">
              <a:buNone/>
              <a:defRPr sz="1000">
                <a:solidFill>
                  <a:schemeClr val="accent1"/>
                </a:solidFill>
                <a:latin typeface="Lato" panose="020F0502020204030203"/>
                <a:ea typeface="Lato" panose="020F0502020204030203"/>
                <a:cs typeface="Lato" panose="020F0502020204030203"/>
                <a:sym typeface="Lato" panose="020F0502020204030203"/>
              </a:defRPr>
            </a:lvl5pPr>
            <a:lvl6pPr lvl="5" algn="r">
              <a:buNone/>
              <a:defRPr sz="1000">
                <a:solidFill>
                  <a:schemeClr val="accent1"/>
                </a:solidFill>
                <a:latin typeface="Lato" panose="020F0502020204030203"/>
                <a:ea typeface="Lato" panose="020F0502020204030203"/>
                <a:cs typeface="Lato" panose="020F0502020204030203"/>
                <a:sym typeface="Lato" panose="020F0502020204030203"/>
              </a:defRPr>
            </a:lvl6pPr>
            <a:lvl7pPr lvl="6" algn="r">
              <a:buNone/>
              <a:defRPr sz="1000">
                <a:solidFill>
                  <a:schemeClr val="accent1"/>
                </a:solidFill>
                <a:latin typeface="Lato" panose="020F0502020204030203"/>
                <a:ea typeface="Lato" panose="020F0502020204030203"/>
                <a:cs typeface="Lato" panose="020F0502020204030203"/>
                <a:sym typeface="Lato" panose="020F0502020204030203"/>
              </a:defRPr>
            </a:lvl7pPr>
            <a:lvl8pPr lvl="7" algn="r">
              <a:buNone/>
              <a:defRPr sz="1000">
                <a:solidFill>
                  <a:schemeClr val="accent1"/>
                </a:solidFill>
                <a:latin typeface="Lato" panose="020F0502020204030203"/>
                <a:ea typeface="Lato" panose="020F0502020204030203"/>
                <a:cs typeface="Lato" panose="020F0502020204030203"/>
                <a:sym typeface="Lato" panose="020F0502020204030203"/>
              </a:defRPr>
            </a:lvl8pPr>
            <a:lvl9pPr lvl="8" algn="r">
              <a:buNone/>
              <a:defRPr sz="1000">
                <a:solidFill>
                  <a:schemeClr val="accent1"/>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GB"/>
              <a:t>‹#›</a:t>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fif"/></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219800"/>
            <a:ext cx="7755872" cy="2174329"/>
          </a:xfrm>
          <a:prstGeom prst="rect">
            <a:avLst/>
          </a:prstGeom>
          <a:noFill/>
          <a:ln>
            <a:noFill/>
          </a:ln>
        </p:spPr>
        <p:txBody>
          <a:bodyPr spcFirstLastPara="1" wrap="square" lIns="91425" tIns="91425" rIns="91425" bIns="91425" anchor="t" anchorCtr="0">
            <a:normAutofit/>
          </a:bodyPr>
          <a:lstStyle/>
          <a:p>
            <a:pPr algn="ctr"/>
            <a:r>
              <a:rPr lang="en-US" sz="1300" dirty="0">
                <a:solidFill>
                  <a:schemeClr val="bg2"/>
                </a:solidFill>
                <a:latin typeface="Times New Roman" panose="02020603050405020304" pitchFamily="18" charset="0"/>
                <a:cs typeface="Times New Roman" panose="02020603050405020304" pitchFamily="18" charset="0"/>
              </a:rPr>
              <a:t>CSMSS</a:t>
            </a:r>
            <a:br>
              <a:rPr lang="en-US" sz="1300" dirty="0">
                <a:solidFill>
                  <a:schemeClr val="bg2"/>
                </a:solidFill>
                <a:latin typeface="Times New Roman" panose="02020603050405020304" pitchFamily="18" charset="0"/>
                <a:cs typeface="Times New Roman" panose="02020603050405020304" pitchFamily="18" charset="0"/>
              </a:rPr>
            </a:br>
            <a:r>
              <a:rPr lang="en-US" sz="1300" dirty="0">
                <a:solidFill>
                  <a:schemeClr val="bg2"/>
                </a:solidFill>
                <a:latin typeface="Times New Roman" panose="02020603050405020304" pitchFamily="18" charset="0"/>
                <a:cs typeface="Times New Roman" panose="02020603050405020304" pitchFamily="18" charset="0"/>
              </a:rPr>
              <a:t> </a:t>
            </a:r>
            <a:r>
              <a:rPr lang="en-US" sz="1300" dirty="0" err="1">
                <a:solidFill>
                  <a:schemeClr val="bg2"/>
                </a:solidFill>
                <a:latin typeface="Times New Roman" panose="02020603050405020304" pitchFamily="18" charset="0"/>
                <a:cs typeface="Times New Roman" panose="02020603050405020304" pitchFamily="18" charset="0"/>
              </a:rPr>
              <a:t>Chh</a:t>
            </a:r>
            <a:r>
              <a:rPr lang="en-US" sz="1300" dirty="0">
                <a:solidFill>
                  <a:schemeClr val="bg2"/>
                </a:solidFill>
                <a:latin typeface="Times New Roman" panose="02020603050405020304" pitchFamily="18" charset="0"/>
                <a:cs typeface="Times New Roman" panose="02020603050405020304" pitchFamily="18" charset="0"/>
              </a:rPr>
              <a:t>. Shahu College of Engineering, </a:t>
            </a:r>
            <a:br>
              <a:rPr lang="en-US" sz="1300" dirty="0">
                <a:solidFill>
                  <a:schemeClr val="bg2"/>
                </a:solidFill>
                <a:latin typeface="Times New Roman" panose="02020603050405020304" pitchFamily="18" charset="0"/>
                <a:cs typeface="Times New Roman" panose="02020603050405020304" pitchFamily="18" charset="0"/>
              </a:rPr>
            </a:br>
            <a:r>
              <a:rPr lang="en-US" sz="1300" dirty="0">
                <a:solidFill>
                  <a:schemeClr val="bg2"/>
                </a:solidFill>
                <a:latin typeface="Times New Roman" panose="02020603050405020304" pitchFamily="18" charset="0"/>
                <a:cs typeface="Times New Roman" panose="02020603050405020304" pitchFamily="18" charset="0"/>
              </a:rPr>
              <a:t>Chhatrapati </a:t>
            </a:r>
            <a:r>
              <a:rPr lang="en-US" sz="1300" dirty="0" err="1">
                <a:solidFill>
                  <a:schemeClr val="bg2"/>
                </a:solidFill>
                <a:latin typeface="Times New Roman" panose="02020603050405020304" pitchFamily="18" charset="0"/>
                <a:cs typeface="Times New Roman" panose="02020603050405020304" pitchFamily="18" charset="0"/>
              </a:rPr>
              <a:t>Sambhajinagar</a:t>
            </a:r>
            <a:br>
              <a:rPr lang="en-US" sz="1300" dirty="0">
                <a:solidFill>
                  <a:schemeClr val="bg2"/>
                </a:solidFill>
                <a:latin typeface="Times New Roman" panose="02020603050405020304" pitchFamily="18" charset="0"/>
                <a:cs typeface="Times New Roman" panose="02020603050405020304" pitchFamily="18" charset="0"/>
              </a:rPr>
            </a:br>
            <a:r>
              <a:rPr lang="en-US" sz="1300" dirty="0">
                <a:solidFill>
                  <a:schemeClr val="bg2"/>
                </a:solidFill>
                <a:latin typeface="Times New Roman" panose="02020603050405020304" pitchFamily="18" charset="0"/>
                <a:cs typeface="Times New Roman" panose="02020603050405020304" pitchFamily="18" charset="0"/>
              </a:rPr>
              <a:t>Department of Artificial Intelligence and Data Science </a:t>
            </a:r>
            <a:br>
              <a:rPr lang="en-US" sz="1300" dirty="0">
                <a:solidFill>
                  <a:schemeClr val="bg2"/>
                </a:solidFill>
                <a:latin typeface="Times New Roman" panose="02020603050405020304" pitchFamily="18" charset="0"/>
                <a:cs typeface="Times New Roman" panose="02020603050405020304" pitchFamily="18" charset="0"/>
              </a:rPr>
            </a:br>
            <a:r>
              <a:rPr lang="en-US" sz="1300" dirty="0">
                <a:solidFill>
                  <a:schemeClr val="bg2"/>
                </a:solidFill>
                <a:latin typeface="Times New Roman" panose="02020603050405020304" pitchFamily="18" charset="0"/>
                <a:cs typeface="Times New Roman" panose="02020603050405020304" pitchFamily="18" charset="0"/>
              </a:rPr>
              <a:t>A.Y.: 2024 – 2025</a:t>
            </a:r>
            <a:br>
              <a:rPr lang="en-US" sz="1300" dirty="0">
                <a:solidFill>
                  <a:schemeClr val="bg2"/>
                </a:solidFill>
                <a:latin typeface="Times New Roman" panose="02020603050405020304" pitchFamily="18" charset="0"/>
                <a:cs typeface="Times New Roman" panose="02020603050405020304" pitchFamily="18" charset="0"/>
              </a:rPr>
            </a:br>
            <a:r>
              <a:rPr lang="en-GB" sz="4000" dirty="0">
                <a:solidFill>
                  <a:schemeClr val="bg2"/>
                </a:solidFill>
                <a:latin typeface="Times New Roman" panose="02020603050405020304" pitchFamily="18" charset="0"/>
                <a:cs typeface="Times New Roman" panose="02020603050405020304" pitchFamily="18" charset="0"/>
              </a:rPr>
              <a:t>Infant Cry Classification System</a:t>
            </a:r>
            <a:endParaRPr sz="4000" i="1" dirty="0">
              <a:latin typeface="Times New Roman" panose="02020603050405020304" pitchFamily="18" charset="0"/>
              <a:cs typeface="Times New Roman" panose="02020603050405020304" pitchFamily="18" charset="0"/>
            </a:endParaRPr>
          </a:p>
        </p:txBody>
      </p:sp>
      <p:sp>
        <p:nvSpPr>
          <p:cNvPr id="87" name="Google Shape;87;p13"/>
          <p:cNvSpPr txBox="1">
            <a:spLocks noGrp="1"/>
          </p:cNvSpPr>
          <p:nvPr>
            <p:ph type="subTitle" idx="1"/>
          </p:nvPr>
        </p:nvSpPr>
        <p:spPr>
          <a:xfrm>
            <a:off x="1626676" y="2959291"/>
            <a:ext cx="6703017" cy="1488722"/>
          </a:xfrm>
          <a:prstGeom prst="rect">
            <a:avLst/>
          </a:prstGeom>
          <a:noFill/>
          <a:ln>
            <a:noFill/>
          </a:ln>
        </p:spPr>
        <p:txBody>
          <a:bodyPr spcFirstLastPara="1" wrap="square" lIns="91425" tIns="91425" rIns="91425" bIns="91425" anchor="t" anchorCtr="0">
            <a:noAutofit/>
          </a:bodyPr>
          <a:lstStyle/>
          <a:p>
            <a:pPr marL="0" indent="0" algn="ctr"/>
            <a:r>
              <a:rPr lang="da-DK" sz="1800" dirty="0">
                <a:solidFill>
                  <a:schemeClr val="bg2"/>
                </a:solidFill>
                <a:latin typeface="Times New Roman" panose="02020603050405020304" pitchFamily="18" charset="0"/>
                <a:cs typeface="Times New Roman" panose="02020603050405020304" pitchFamily="18" charset="0"/>
              </a:rPr>
              <a:t>Guide Name:</a:t>
            </a:r>
            <a:r>
              <a:rPr lang="da-DK" sz="1800" dirty="0">
                <a:solidFill>
                  <a:schemeClr val="bg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Prof.Moin</a:t>
            </a:r>
            <a:endParaRPr lang="da-DK" sz="18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indent="0" algn="ctr"/>
            <a:endParaRPr lang="en-GB" sz="1800" dirty="0">
              <a:solidFill>
                <a:schemeClr val="bg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l" rtl="0">
              <a:lnSpc>
                <a:spcPct val="100000"/>
              </a:lnSpc>
              <a:spcBef>
                <a:spcPts val="0"/>
              </a:spcBef>
              <a:spcAft>
                <a:spcPts val="0"/>
              </a:spcAft>
              <a:buSzPts val="1600"/>
              <a:buNone/>
            </a:pPr>
            <a:r>
              <a:rPr lang="en-GB" sz="1800" dirty="0">
                <a:solidFill>
                  <a:schemeClr val="bg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Name Of Team Member 1 :  Mayur Dadasaheb Kale  (AI 3070)</a:t>
            </a:r>
            <a:endParaRPr sz="1800" dirty="0">
              <a:solidFill>
                <a:schemeClr val="bg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indent="0"/>
            <a:r>
              <a:rPr lang="en-GB" sz="1800" dirty="0">
                <a:solidFill>
                  <a:schemeClr val="bg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Name Of Team Member 2 : </a:t>
            </a:r>
            <a:r>
              <a:rPr lang="da-DK" sz="1800" dirty="0">
                <a:solidFill>
                  <a:schemeClr val="bg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Piyush Santosh Jadhav (AI 3028)</a:t>
            </a:r>
          </a:p>
          <a:p>
            <a:pPr marL="0" lvl="0" indent="0"/>
            <a:endParaRPr lang="en-US" sz="1800" dirty="0">
              <a:solidFill>
                <a:schemeClr val="bg2"/>
              </a:solidFill>
              <a:latin typeface="Times New Roman" panose="02020603050405020304" pitchFamily="18" charset="0"/>
              <a:cs typeface="Times New Roman" panose="02020603050405020304" pitchFamily="18" charset="0"/>
            </a:endParaRPr>
          </a:p>
          <a:p>
            <a:pPr marL="0" lvl="0" indent="0"/>
            <a:endParaRPr lang="en-US" sz="1800" dirty="0">
              <a:solidFill>
                <a:schemeClr val="bg2"/>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05DA527-9975-4DA8-B267-64BE1F2D42DF}"/>
              </a:ext>
            </a:extLst>
          </p:cNvPr>
          <p:cNvPicPr>
            <a:picLocks noChangeAspect="1"/>
          </p:cNvPicPr>
          <p:nvPr/>
        </p:nvPicPr>
        <p:blipFill>
          <a:blip r:embed="rId3"/>
          <a:stretch>
            <a:fillRect/>
          </a:stretch>
        </p:blipFill>
        <p:spPr>
          <a:xfrm>
            <a:off x="195350" y="27494"/>
            <a:ext cx="1431326" cy="1192306"/>
          </a:xfrm>
          <a:prstGeom prst="rect">
            <a:avLst/>
          </a:prstGeom>
        </p:spPr>
      </p:pic>
      <p:pic>
        <p:nvPicPr>
          <p:cNvPr id="5" name="Picture 4">
            <a:extLst>
              <a:ext uri="{FF2B5EF4-FFF2-40B4-BE49-F238E27FC236}">
                <a16:creationId xmlns:a16="http://schemas.microsoft.com/office/drawing/2014/main" id="{242AF039-7C12-0AD6-1D68-AED42F9399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06476" y="27494"/>
            <a:ext cx="1337524" cy="1123302"/>
          </a:xfrm>
          <a:prstGeom prst="rect">
            <a:avLst/>
          </a:prstGeom>
        </p:spPr>
      </p:pic>
      <p:sp>
        <p:nvSpPr>
          <p:cNvPr id="2" name="Rectangle 1"/>
          <p:cNvSpPr/>
          <p:nvPr/>
        </p:nvSpPr>
        <p:spPr>
          <a:xfrm>
            <a:off x="2146300" y="627576"/>
            <a:ext cx="5041900" cy="523220"/>
          </a:xfrm>
          <a:prstGeom prst="rect">
            <a:avLst/>
          </a:prstGeom>
        </p:spPr>
        <p:txBody>
          <a:bodyPr wrap="square">
            <a:spAutoFit/>
          </a:bodyPr>
          <a:lstStyle/>
          <a:p>
            <a:pPr algn="ctr" defTabSz="914354" fontAlgn="base">
              <a:spcBef>
                <a:spcPct val="0"/>
              </a:spcBef>
              <a:spcAft>
                <a:spcPct val="0"/>
              </a:spcAft>
            </a:pPr>
            <a:r>
              <a:rPr lang="en-US" b="1" dirty="0">
                <a:solidFill>
                  <a:schemeClr val="bg2"/>
                </a:solidFill>
                <a:latin typeface="Times New Roman" pitchFamily="18" charset="0"/>
                <a:ea typeface="Times New Roman" pitchFamily="18" charset="0"/>
                <a:cs typeface="Times New Roman" pitchFamily="18" charset="0"/>
              </a:rPr>
              <a:t>Dr. BABASAHEB AMBEDKAR TECHNOLOGICAL UNIVERSITY, </a:t>
            </a:r>
            <a:r>
              <a:rPr lang="en-US" b="1" dirty="0" err="1">
                <a:solidFill>
                  <a:schemeClr val="bg2"/>
                </a:solidFill>
                <a:latin typeface="Times New Roman" pitchFamily="18" charset="0"/>
                <a:ea typeface="Times New Roman" pitchFamily="18" charset="0"/>
                <a:cs typeface="Times New Roman" pitchFamily="18" charset="0"/>
              </a:rPr>
              <a:t>Lonere</a:t>
            </a:r>
            <a:endParaRPr lang="en-US" b="1" dirty="0">
              <a:solidFill>
                <a:schemeClr val="bg2"/>
              </a:solidFill>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p>
            <a:pPr lvl="0">
              <a:buSzPct val="160000"/>
            </a:pPr>
            <a:r>
              <a:rPr lang="en-IN" sz="2000" dirty="0">
                <a:latin typeface="Times New Roman" panose="02020603050405020304" pitchFamily="18" charset="0"/>
                <a:cs typeface="Times New Roman" panose="02020603050405020304" pitchFamily="18" charset="0"/>
              </a:rPr>
              <a:t>Content:</a:t>
            </a:r>
            <a:endParaRPr sz="2000" dirty="0">
              <a:latin typeface="Times New Roman" panose="02020603050405020304" pitchFamily="18" charset="0"/>
              <a:cs typeface="Times New Roman" panose="02020603050405020304" pitchFamily="18" charset="0"/>
            </a:endParaRPr>
          </a:p>
        </p:txBody>
      </p:sp>
      <p:sp>
        <p:nvSpPr>
          <p:cNvPr id="93" name="Google Shape;93;p14"/>
          <p:cNvSpPr txBox="1">
            <a:spLocks noGrp="1"/>
          </p:cNvSpPr>
          <p:nvPr>
            <p:ph type="body" idx="1"/>
          </p:nvPr>
        </p:nvSpPr>
        <p:spPr>
          <a:xfrm>
            <a:off x="837000" y="1767425"/>
            <a:ext cx="7688700" cy="2760600"/>
          </a:xfrm>
          <a:prstGeom prst="rect">
            <a:avLst/>
          </a:prstGeom>
          <a:noFill/>
          <a:ln>
            <a:noFill/>
          </a:ln>
        </p:spPr>
        <p:txBody>
          <a:bodyPr spcFirstLastPara="1" wrap="square" lIns="91425" tIns="91425" rIns="91425" bIns="91425" anchor="t" anchorCtr="0">
            <a:noAutofit/>
          </a:bodyPr>
          <a:lstStyle/>
          <a:p>
            <a:r>
              <a:rPr lang="en-US" sz="1600" b="1" dirty="0">
                <a:solidFill>
                  <a:schemeClr val="bg2"/>
                </a:solidFill>
                <a:latin typeface="Times New Roman" panose="02020603050405020304" pitchFamily="18" charset="0"/>
                <a:cs typeface="Times New Roman" panose="02020603050405020304" pitchFamily="18" charset="0"/>
              </a:rPr>
              <a:t>Introduction</a:t>
            </a:r>
          </a:p>
          <a:p>
            <a:pPr marL="146050" indent="0">
              <a:buNone/>
            </a:pPr>
            <a:endParaRPr lang="en-US" sz="1600" b="1" dirty="0">
              <a:solidFill>
                <a:schemeClr val="bg2"/>
              </a:solidFill>
              <a:latin typeface="Times New Roman" panose="02020603050405020304" pitchFamily="18" charset="0"/>
              <a:cs typeface="Times New Roman" panose="02020603050405020304" pitchFamily="18" charset="0"/>
            </a:endParaRPr>
          </a:p>
          <a:p>
            <a:r>
              <a:rPr lang="en-US" sz="1600" b="1" dirty="0">
                <a:solidFill>
                  <a:schemeClr val="bg2"/>
                </a:solidFill>
                <a:latin typeface="Times New Roman" panose="02020603050405020304" pitchFamily="18" charset="0"/>
                <a:cs typeface="Times New Roman" panose="02020603050405020304" pitchFamily="18" charset="0"/>
              </a:rPr>
              <a:t>Project Working</a:t>
            </a:r>
          </a:p>
          <a:p>
            <a:endParaRPr lang="en-US" sz="1600" b="1" dirty="0">
              <a:solidFill>
                <a:schemeClr val="bg2"/>
              </a:solidFill>
              <a:latin typeface="Times New Roman" panose="02020603050405020304" pitchFamily="18" charset="0"/>
              <a:cs typeface="Times New Roman" panose="02020603050405020304" pitchFamily="18" charset="0"/>
            </a:endParaRPr>
          </a:p>
          <a:p>
            <a:r>
              <a:rPr lang="en-US" sz="1600" b="1" dirty="0">
                <a:solidFill>
                  <a:schemeClr val="bg2"/>
                </a:solidFill>
                <a:latin typeface="Times New Roman" panose="02020603050405020304" pitchFamily="18" charset="0"/>
                <a:cs typeface="Times New Roman" panose="02020603050405020304" pitchFamily="18" charset="0"/>
              </a:rPr>
              <a:t>Technical Stack</a:t>
            </a:r>
          </a:p>
          <a:p>
            <a:endParaRPr lang="en-US" sz="1600" b="1" dirty="0">
              <a:solidFill>
                <a:schemeClr val="bg2"/>
              </a:solidFill>
              <a:latin typeface="Times New Roman" panose="02020603050405020304" pitchFamily="18" charset="0"/>
              <a:cs typeface="Times New Roman" panose="02020603050405020304" pitchFamily="18" charset="0"/>
            </a:endParaRPr>
          </a:p>
          <a:p>
            <a:r>
              <a:rPr lang="en-US" sz="1600" b="1" dirty="0">
                <a:solidFill>
                  <a:schemeClr val="bg2"/>
                </a:solidFill>
                <a:latin typeface="Times New Roman" panose="02020603050405020304" pitchFamily="18" charset="0"/>
                <a:cs typeface="Times New Roman" panose="02020603050405020304" pitchFamily="18" charset="0"/>
              </a:rPr>
              <a:t>Webpage Visual</a:t>
            </a:r>
          </a:p>
          <a:p>
            <a:endParaRPr lang="en-US" sz="1400" b="1" dirty="0">
              <a:solidFill>
                <a:schemeClr val="bg2"/>
              </a:solidFill>
              <a:latin typeface="Times New Roman" panose="02020603050405020304" pitchFamily="18" charset="0"/>
              <a:cs typeface="Times New Roman" panose="02020603050405020304" pitchFamily="18" charset="0"/>
            </a:endParaRPr>
          </a:p>
          <a:p>
            <a:r>
              <a:rPr lang="en-US" sz="1600" b="1" dirty="0">
                <a:solidFill>
                  <a:schemeClr val="bg2"/>
                </a:solidFill>
                <a:latin typeface="Times New Roman" panose="02020603050405020304" pitchFamily="18" charset="0"/>
                <a:ea typeface="Arial" panose="020B0604020202020204"/>
                <a:cs typeface="Times New Roman" panose="02020603050405020304" pitchFamily="18" charset="0"/>
                <a:sym typeface="Arial" panose="020B0604020202020204"/>
              </a:rPr>
              <a:t>Conclusion </a:t>
            </a:r>
          </a:p>
        </p:txBody>
      </p:sp>
      <p:pic>
        <p:nvPicPr>
          <p:cNvPr id="4" name="Picture 3">
            <a:extLst>
              <a:ext uri="{FF2B5EF4-FFF2-40B4-BE49-F238E27FC236}">
                <a16:creationId xmlns:a16="http://schemas.microsoft.com/office/drawing/2014/main" id="{705DA527-9975-4DA8-B267-64BE1F2D42DF}"/>
              </a:ext>
            </a:extLst>
          </p:cNvPr>
          <p:cNvPicPr>
            <a:picLocks noChangeAspect="1"/>
          </p:cNvPicPr>
          <p:nvPr/>
        </p:nvPicPr>
        <p:blipFill>
          <a:blip r:embed="rId3"/>
          <a:stretch>
            <a:fillRect/>
          </a:stretch>
        </p:blipFill>
        <p:spPr>
          <a:xfrm>
            <a:off x="347750" y="126344"/>
            <a:ext cx="1431326" cy="1192306"/>
          </a:xfrm>
          <a:prstGeom prst="rect">
            <a:avLst/>
          </a:prstGeom>
        </p:spPr>
      </p:pic>
      <p:pic>
        <p:nvPicPr>
          <p:cNvPr id="7" name="Picture 6">
            <a:extLst>
              <a:ext uri="{FF2B5EF4-FFF2-40B4-BE49-F238E27FC236}">
                <a16:creationId xmlns:a16="http://schemas.microsoft.com/office/drawing/2014/main" id="{0D2BE372-3D63-BB66-3D2B-7D5B3D43CA66}"/>
              </a:ext>
            </a:extLst>
          </p:cNvPr>
          <p:cNvPicPr>
            <a:picLocks noChangeAspect="1"/>
          </p:cNvPicPr>
          <p:nvPr/>
        </p:nvPicPr>
        <p:blipFill>
          <a:blip r:embed="rId4"/>
          <a:stretch>
            <a:fillRect/>
          </a:stretch>
        </p:blipFill>
        <p:spPr>
          <a:xfrm>
            <a:off x="5021451" y="1418095"/>
            <a:ext cx="2898182" cy="26114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a:latin typeface="Times New Roman" panose="02020603050405020304" pitchFamily="18" charset="0"/>
                <a:cs typeface="Times New Roman" panose="02020603050405020304" pitchFamily="18" charset="0"/>
              </a:rPr>
              <a:t>Introduction</a:t>
            </a:r>
            <a:r>
              <a:rPr lang="en-IN" dirty="0"/>
              <a:t>:</a:t>
            </a:r>
          </a:p>
        </p:txBody>
      </p:sp>
      <p:sp>
        <p:nvSpPr>
          <p:cNvPr id="3" name="Text Placeholder 2"/>
          <p:cNvSpPr>
            <a:spLocks noGrp="1"/>
          </p:cNvSpPr>
          <p:nvPr>
            <p:ph type="body" idx="1"/>
          </p:nvPr>
        </p:nvSpPr>
        <p:spPr>
          <a:xfrm>
            <a:off x="725850" y="1853850"/>
            <a:ext cx="7688700" cy="2842136"/>
          </a:xfrm>
        </p:spPr>
        <p:txBody>
          <a:bodyPr>
            <a:noAutofit/>
          </a:bodyPr>
          <a:lstStyle/>
          <a:p>
            <a:r>
              <a:rPr lang="en-US" sz="1400" dirty="0">
                <a:latin typeface="Times New Roman" panose="02020603050405020304" pitchFamily="18" charset="0"/>
                <a:cs typeface="Times New Roman" panose="02020603050405020304" pitchFamily="18" charset="0"/>
              </a:rPr>
              <a:t>In today’s world, ensuring the care and well-being of infants is a top priority, and crying remains one of the primary ways infants communicate their needs. However, interpreting the cause of a cry—whether due to hunger, discomfort, sleepiness, or pain—can be difficult and time-consuming, especially for stressed or sleep-deprived caregivers. To address this, the Infant Cry Detection System has been developed using advanced Deep Learning algorithms that analyze acoustic features like pitch, tone, frequency, and intensity to accurately classify different types of cries. The system continuously learns and improves with more data, becoming increasingly personalized to an individual infant’s cry patterns. This not only enhances caregiver responsiveness but also enables long-term tracking of sleep and health trends, making the system valuable for both parents and healthcare professionals in monitoring a baby’s overall well-being.</a:t>
            </a:r>
            <a:endParaRPr lang="en-IN" sz="1400"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5707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000" dirty="0">
                <a:latin typeface="Times New Roman" panose="02020603050405020304" pitchFamily="18" charset="0"/>
                <a:cs typeface="Times New Roman" panose="02020603050405020304" pitchFamily="18" charset="0"/>
              </a:rPr>
              <a:t>Project Working</a:t>
            </a:r>
            <a:r>
              <a:rPr lang="en-US" dirty="0"/>
              <a:t>:</a:t>
            </a:r>
            <a:endParaRPr lang="en-IN" dirty="0"/>
          </a:p>
        </p:txBody>
      </p:sp>
      <p:sp>
        <p:nvSpPr>
          <p:cNvPr id="6" name="Text Placeholder 5">
            <a:extLst>
              <a:ext uri="{FF2B5EF4-FFF2-40B4-BE49-F238E27FC236}">
                <a16:creationId xmlns:a16="http://schemas.microsoft.com/office/drawing/2014/main" id="{13275801-9CE2-86D2-B051-D7EDC8DE1DA0}"/>
              </a:ext>
            </a:extLst>
          </p:cNvPr>
          <p:cNvSpPr>
            <a:spLocks noGrp="1"/>
          </p:cNvSpPr>
          <p:nvPr>
            <p:ph type="body" idx="1"/>
          </p:nvPr>
        </p:nvSpPr>
        <p:spPr>
          <a:xfrm>
            <a:off x="729325" y="2078874"/>
            <a:ext cx="3774300" cy="2989071"/>
          </a:xfrm>
        </p:spPr>
        <p:txBody>
          <a:bodyPr/>
          <a:lstStyle/>
          <a:p>
            <a:endParaRPr lang="en-IN"/>
          </a:p>
        </p:txBody>
      </p:sp>
      <p:pic>
        <p:nvPicPr>
          <p:cNvPr id="5" name="Picture 4">
            <a:extLst>
              <a:ext uri="{FF2B5EF4-FFF2-40B4-BE49-F238E27FC236}">
                <a16:creationId xmlns:a16="http://schemas.microsoft.com/office/drawing/2014/main" id="{C3C0947B-96B1-7E92-391C-A187422D417A}"/>
              </a:ext>
            </a:extLst>
          </p:cNvPr>
          <p:cNvPicPr>
            <a:picLocks noChangeAspect="1"/>
          </p:cNvPicPr>
          <p:nvPr/>
        </p:nvPicPr>
        <p:blipFill>
          <a:blip r:embed="rId2"/>
          <a:stretch>
            <a:fillRect/>
          </a:stretch>
        </p:blipFill>
        <p:spPr>
          <a:xfrm>
            <a:off x="698032" y="2014780"/>
            <a:ext cx="3883898" cy="3053165"/>
          </a:xfrm>
          <a:prstGeom prst="rect">
            <a:avLst/>
          </a:prstGeom>
        </p:spPr>
      </p:pic>
      <p:sp>
        <p:nvSpPr>
          <p:cNvPr id="9" name="Text Placeholder 8">
            <a:extLst>
              <a:ext uri="{FF2B5EF4-FFF2-40B4-BE49-F238E27FC236}">
                <a16:creationId xmlns:a16="http://schemas.microsoft.com/office/drawing/2014/main" id="{A250CB85-C523-A9A2-CBC1-FBB086D0521A}"/>
              </a:ext>
            </a:extLst>
          </p:cNvPr>
          <p:cNvSpPr>
            <a:spLocks noGrp="1"/>
          </p:cNvSpPr>
          <p:nvPr>
            <p:ph type="body" idx="2"/>
          </p:nvPr>
        </p:nvSpPr>
        <p:spPr>
          <a:xfrm>
            <a:off x="4643604" y="1853850"/>
            <a:ext cx="3774300" cy="3214095"/>
          </a:xfrm>
        </p:spPr>
        <p:txBody>
          <a:bodyPr>
            <a:normAutofit fontScale="92500"/>
          </a:bodyPr>
          <a:lstStyle/>
          <a:p>
            <a:pPr>
              <a:lnSpc>
                <a:spcPct val="150000"/>
              </a:lnSpc>
            </a:pPr>
            <a:r>
              <a:rPr lang="en-US" sz="1400" dirty="0">
                <a:latin typeface="Times New Roman" panose="02020603050405020304" pitchFamily="18" charset="0"/>
                <a:cs typeface="Times New Roman" panose="02020603050405020304" pitchFamily="18" charset="0"/>
              </a:rPr>
              <a:t>Capture Cry: Record infant cry audio.</a:t>
            </a:r>
          </a:p>
          <a:p>
            <a:pPr>
              <a:lnSpc>
                <a:spcPct val="150000"/>
              </a:lnSpc>
            </a:pPr>
            <a:r>
              <a:rPr lang="en-US" sz="1400" dirty="0">
                <a:latin typeface="Times New Roman" panose="02020603050405020304" pitchFamily="18" charset="0"/>
                <a:cs typeface="Times New Roman" panose="02020603050405020304" pitchFamily="18" charset="0"/>
              </a:rPr>
              <a:t> Augmentation: Enhance audio with variations.</a:t>
            </a:r>
          </a:p>
          <a:p>
            <a:pPr>
              <a:lnSpc>
                <a:spcPct val="150000"/>
              </a:lnSpc>
            </a:pPr>
            <a:r>
              <a:rPr lang="en-US" sz="1400" dirty="0">
                <a:latin typeface="Times New Roman" panose="02020603050405020304" pitchFamily="18" charset="0"/>
                <a:cs typeface="Times New Roman" panose="02020603050405020304" pitchFamily="18" charset="0"/>
              </a:rPr>
              <a:t>Spectrogram Conversion: Convert audio to spectrogram and save as PNG.</a:t>
            </a:r>
          </a:p>
          <a:p>
            <a:pPr>
              <a:lnSpc>
                <a:spcPct val="150000"/>
              </a:lnSpc>
            </a:pPr>
            <a:r>
              <a:rPr lang="en-US" sz="1400" dirty="0">
                <a:latin typeface="Times New Roman" panose="02020603050405020304" pitchFamily="18" charset="0"/>
                <a:cs typeface="Times New Roman" panose="02020603050405020304" pitchFamily="18" charset="0"/>
              </a:rPr>
              <a:t>Model Selection: Use a pre-train deep learning model.</a:t>
            </a:r>
          </a:p>
          <a:p>
            <a:pPr>
              <a:lnSpc>
                <a:spcPct val="150000"/>
              </a:lnSpc>
            </a:pPr>
            <a:r>
              <a:rPr lang="en-US" sz="1400" dirty="0">
                <a:latin typeface="Times New Roman" panose="02020603050405020304" pitchFamily="18" charset="0"/>
                <a:cs typeface="Times New Roman" panose="02020603050405020304" pitchFamily="18" charset="0"/>
              </a:rPr>
              <a:t>Training &amp; saving: Train the model and save the best-performing version.</a:t>
            </a:r>
          </a:p>
          <a:p>
            <a:pPr>
              <a:lnSpc>
                <a:spcPct val="150000"/>
              </a:lnSpc>
            </a:pPr>
            <a:r>
              <a:rPr lang="en-US" sz="1400" dirty="0">
                <a:latin typeface="Times New Roman" panose="02020603050405020304" pitchFamily="18" charset="0"/>
                <a:cs typeface="Times New Roman" panose="02020603050405020304" pitchFamily="18" charset="0"/>
              </a:rPr>
              <a:t>Evaluation &amp; Prediction: Evaluate model </a:t>
            </a:r>
            <a:r>
              <a:rPr lang="en-US" sz="1400" dirty="0" err="1">
                <a:latin typeface="Times New Roman" panose="02020603050405020304" pitchFamily="18" charset="0"/>
                <a:cs typeface="Times New Roman" panose="02020603050405020304" pitchFamily="18" charset="0"/>
              </a:rPr>
              <a:t>accouracy</a:t>
            </a:r>
            <a:r>
              <a:rPr lang="en-US" sz="1400" dirty="0">
                <a:latin typeface="Times New Roman" panose="02020603050405020304" pitchFamily="18" charset="0"/>
                <a:cs typeface="Times New Roman" panose="02020603050405020304" pitchFamily="18" charset="0"/>
              </a:rPr>
              <a:t> and use it to predict cry types.</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0375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9450" y="1255828"/>
            <a:ext cx="7688700" cy="535200"/>
          </a:xfrm>
        </p:spPr>
        <p:txBody>
          <a:bodyPr>
            <a:normAutofit/>
          </a:bodyPr>
          <a:lstStyle/>
          <a:p>
            <a:r>
              <a:rPr lang="en-IN" sz="1800" dirty="0">
                <a:latin typeface="Times New Roman" panose="02020603050405020304" pitchFamily="18" charset="0"/>
                <a:cs typeface="Times New Roman" panose="02020603050405020304" pitchFamily="18" charset="0"/>
              </a:rPr>
              <a:t>Technical Stack:</a:t>
            </a:r>
          </a:p>
        </p:txBody>
      </p:sp>
      <p:sp>
        <p:nvSpPr>
          <p:cNvPr id="3" name="Text Placeholder 2"/>
          <p:cNvSpPr>
            <a:spLocks noGrp="1"/>
          </p:cNvSpPr>
          <p:nvPr>
            <p:ph type="body" idx="1"/>
          </p:nvPr>
        </p:nvSpPr>
        <p:spPr>
          <a:xfrm>
            <a:off x="729450" y="1692794"/>
            <a:ext cx="7688700" cy="3011829"/>
          </a:xfrm>
        </p:spPr>
        <p:txBody>
          <a:bodyPr>
            <a:noAutofit/>
          </a:bodyPr>
          <a:lstStyle/>
          <a:p>
            <a:pPr>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Python</a:t>
            </a:r>
          </a:p>
          <a:p>
            <a:pPr>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ML &amp; DL Algorithm</a:t>
            </a:r>
          </a:p>
          <a:p>
            <a:pPr>
              <a:lnSpc>
                <a:spcPct val="150000"/>
              </a:lnSpc>
              <a:buFont typeface="Arial" panose="020B0604020202020204" pitchFamily="34" charset="0"/>
              <a:buChar char="•"/>
            </a:pPr>
            <a:r>
              <a:rPr lang="en-US" sz="1400" dirty="0" err="1">
                <a:latin typeface="Times New Roman" panose="02020603050405020304" pitchFamily="18" charset="0"/>
                <a:cs typeface="Times New Roman" panose="02020603050405020304" pitchFamily="18" charset="0"/>
              </a:rPr>
              <a:t>Librosa</a:t>
            </a:r>
            <a:endParaRPr lang="en-US" sz="14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HTML, CSS, JS</a:t>
            </a:r>
          </a:p>
          <a:p>
            <a:pPr>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Flask </a:t>
            </a:r>
          </a:p>
          <a:p>
            <a:pPr>
              <a:lnSpc>
                <a:spcPct val="150000"/>
              </a:lnSpc>
              <a:buFont typeface="Arial" panose="020B0604020202020204" pitchFamily="34" charset="0"/>
              <a:buChar char="•"/>
            </a:pPr>
            <a:r>
              <a:rPr lang="en-US" sz="1400">
                <a:latin typeface="Times New Roman" panose="02020603050405020304" pitchFamily="18" charset="0"/>
                <a:cs typeface="Times New Roman" panose="02020603050405020304" pitchFamily="18" charset="0"/>
              </a:rPr>
              <a:t>ML </a:t>
            </a:r>
            <a:r>
              <a:rPr lang="en-US" sz="1400" dirty="0">
                <a:latin typeface="Times New Roman" panose="02020603050405020304" pitchFamily="18" charset="0"/>
                <a:cs typeface="Times New Roman" panose="02020603050405020304" pitchFamily="18" charset="0"/>
              </a:rPr>
              <a:t>Libraries</a:t>
            </a:r>
          </a:p>
          <a:p>
            <a:pPr>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Audio Libraries (Wave / </a:t>
            </a:r>
            <a:r>
              <a:rPr lang="en-US" sz="1400" dirty="0" err="1">
                <a:latin typeface="Times New Roman" panose="02020603050405020304" pitchFamily="18" charset="0"/>
                <a:cs typeface="Times New Roman" panose="02020603050405020304" pitchFamily="18" charset="0"/>
              </a:rPr>
              <a:t>Soundfile</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Pydub</a:t>
            </a:r>
            <a:r>
              <a:rPr lang="en-US" sz="1400" dirty="0">
                <a:latin typeface="Times New Roman" panose="02020603050405020304" pitchFamily="18" charset="0"/>
                <a:cs typeface="Times New Roman" panose="02020603050405020304" pitchFamily="18" charset="0"/>
              </a:rPr>
              <a:t>)</a:t>
            </a:r>
          </a:p>
          <a:p>
            <a:pPr>
              <a:lnSpc>
                <a:spcPct val="150000"/>
              </a:lnSpc>
              <a:buFont typeface="Arial" panose="020B0604020202020204" pitchFamily="34" charset="0"/>
              <a:buChar char="•"/>
            </a:pPr>
            <a:endParaRPr lang="en-US"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3054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995" y="648110"/>
            <a:ext cx="7688700" cy="535200"/>
          </a:xfrm>
        </p:spPr>
        <p:txBody>
          <a:bodyPr>
            <a:normAutofit fontScale="90000"/>
          </a:bodyPr>
          <a:lstStyle/>
          <a:p>
            <a:r>
              <a:rPr lang="en-US" dirty="0"/>
              <a:t>   </a:t>
            </a:r>
            <a:r>
              <a:rPr lang="en-IN" sz="2000" dirty="0">
                <a:latin typeface="Times New Roman" panose="02020603050405020304" pitchFamily="18" charset="0"/>
                <a:cs typeface="Times New Roman" panose="02020603050405020304" pitchFamily="18" charset="0"/>
              </a:rPr>
              <a:t>Webpage Visual:</a:t>
            </a:r>
          </a:p>
        </p:txBody>
      </p:sp>
      <p:pic>
        <p:nvPicPr>
          <p:cNvPr id="8" name="Picture 7">
            <a:extLst>
              <a:ext uri="{FF2B5EF4-FFF2-40B4-BE49-F238E27FC236}">
                <a16:creationId xmlns:a16="http://schemas.microsoft.com/office/drawing/2014/main" id="{E6B350AA-103A-E50A-DD57-010AC16EEBB2}"/>
              </a:ext>
            </a:extLst>
          </p:cNvPr>
          <p:cNvPicPr>
            <a:picLocks noChangeAspect="1"/>
          </p:cNvPicPr>
          <p:nvPr/>
        </p:nvPicPr>
        <p:blipFill>
          <a:blip r:embed="rId2"/>
          <a:stretch>
            <a:fillRect/>
          </a:stretch>
        </p:blipFill>
        <p:spPr>
          <a:xfrm>
            <a:off x="69742" y="1348352"/>
            <a:ext cx="8989017" cy="381064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86A4-1B30-47A3-C166-6ED181CAEB8A}"/>
              </a:ext>
            </a:extLst>
          </p:cNvPr>
          <p:cNvSpPr>
            <a:spLocks noGrp="1"/>
          </p:cNvSpPr>
          <p:nvPr>
            <p:ph type="title"/>
          </p:nvPr>
        </p:nvSpPr>
        <p:spPr>
          <a:xfrm>
            <a:off x="727650" y="621226"/>
            <a:ext cx="7688700" cy="535200"/>
          </a:xfrm>
        </p:spPr>
        <p:txBody>
          <a:bodyPr>
            <a:normAutofit/>
          </a:bodyPr>
          <a:lstStyle/>
          <a:p>
            <a:r>
              <a:rPr lang="en-US" sz="1800" dirty="0">
                <a:latin typeface="Times New Roman" panose="02020603050405020304" pitchFamily="18" charset="0"/>
                <a:cs typeface="Times New Roman" panose="02020603050405020304" pitchFamily="18" charset="0"/>
              </a:rPr>
              <a:t>Output</a:t>
            </a:r>
            <a:endParaRPr lang="en-IN" sz="1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53E76CC-05D0-FDE6-6211-C63CF16FB68B}"/>
              </a:ext>
            </a:extLst>
          </p:cNvPr>
          <p:cNvSpPr>
            <a:spLocks noGrp="1"/>
          </p:cNvSpPr>
          <p:nvPr>
            <p:ph type="body" idx="1"/>
          </p:nvPr>
        </p:nvSpPr>
        <p:spPr>
          <a:xfrm>
            <a:off x="729450" y="1441342"/>
            <a:ext cx="7688700" cy="2898633"/>
          </a:xfrm>
        </p:spPr>
        <p:txBody>
          <a:bodyPr/>
          <a:lstStyle/>
          <a:p>
            <a:endParaRPr lang="en-IN" dirty="0"/>
          </a:p>
        </p:txBody>
      </p:sp>
      <p:pic>
        <p:nvPicPr>
          <p:cNvPr id="5" name="Picture 4">
            <a:extLst>
              <a:ext uri="{FF2B5EF4-FFF2-40B4-BE49-F238E27FC236}">
                <a16:creationId xmlns:a16="http://schemas.microsoft.com/office/drawing/2014/main" id="{7C0F16FD-3AD5-0473-8DC9-5D5C37CE6849}"/>
              </a:ext>
            </a:extLst>
          </p:cNvPr>
          <p:cNvPicPr>
            <a:picLocks noChangeAspect="1"/>
          </p:cNvPicPr>
          <p:nvPr/>
        </p:nvPicPr>
        <p:blipFill>
          <a:blip r:embed="rId2"/>
          <a:stretch>
            <a:fillRect/>
          </a:stretch>
        </p:blipFill>
        <p:spPr>
          <a:xfrm>
            <a:off x="0" y="1278609"/>
            <a:ext cx="9144000" cy="3864891"/>
          </a:xfrm>
          <a:prstGeom prst="rect">
            <a:avLst/>
          </a:prstGeom>
        </p:spPr>
      </p:pic>
    </p:spTree>
    <p:extLst>
      <p:ext uri="{BB962C8B-B14F-4D97-AF65-F5344CB8AC3E}">
        <p14:creationId xmlns:p14="http://schemas.microsoft.com/office/powerpoint/2010/main" val="3030625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583" y="616688"/>
            <a:ext cx="7688700" cy="478465"/>
          </a:xfrm>
        </p:spPr>
        <p:txBody>
          <a:bodyPr>
            <a:normAutofit fontScale="90000"/>
          </a:bodyPr>
          <a:lstStyle/>
          <a:p>
            <a:r>
              <a:rPr lang="en-US" dirty="0"/>
              <a:t>          Flowchart</a:t>
            </a:r>
            <a:endParaRPr lang="en-IN" dirty="0"/>
          </a:p>
        </p:txBody>
      </p:sp>
      <p:pic>
        <p:nvPicPr>
          <p:cNvPr id="6" name="Picture 5">
            <a:extLst>
              <a:ext uri="{FF2B5EF4-FFF2-40B4-BE49-F238E27FC236}">
                <a16:creationId xmlns:a16="http://schemas.microsoft.com/office/drawing/2014/main" id="{EA07EB6E-3254-6438-71AA-F9ECA105A086}"/>
              </a:ext>
            </a:extLst>
          </p:cNvPr>
          <p:cNvPicPr>
            <a:picLocks noChangeAspect="1"/>
          </p:cNvPicPr>
          <p:nvPr/>
        </p:nvPicPr>
        <p:blipFill>
          <a:blip r:embed="rId2"/>
          <a:stretch>
            <a:fillRect/>
          </a:stretch>
        </p:blipFill>
        <p:spPr>
          <a:xfrm>
            <a:off x="3256439" y="480446"/>
            <a:ext cx="2631122" cy="466305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3C290-BDBA-FFA8-18F2-03DF2D5E3A8A}"/>
              </a:ext>
            </a:extLst>
          </p:cNvPr>
          <p:cNvSpPr>
            <a:spLocks noGrp="1"/>
          </p:cNvSpPr>
          <p:nvPr>
            <p:ph type="title"/>
          </p:nvPr>
        </p:nvSpPr>
        <p:spPr/>
        <p:txBody>
          <a:bodyPr>
            <a:normAutofit/>
          </a:bodyPr>
          <a:lstStyle/>
          <a:p>
            <a:r>
              <a:rPr lang="en-IN" sz="1800" dirty="0">
                <a:latin typeface="Times New Roman" panose="02020603050405020304" pitchFamily="18" charset="0"/>
                <a:cs typeface="Times New Roman" panose="02020603050405020304" pitchFamily="18" charset="0"/>
              </a:rPr>
              <a:t>Conclusion</a:t>
            </a:r>
          </a:p>
        </p:txBody>
      </p:sp>
      <p:sp>
        <p:nvSpPr>
          <p:cNvPr id="3" name="Text Placeholder 2">
            <a:extLst>
              <a:ext uri="{FF2B5EF4-FFF2-40B4-BE49-F238E27FC236}">
                <a16:creationId xmlns:a16="http://schemas.microsoft.com/office/drawing/2014/main" id="{B7FED834-C190-7FA9-6DCD-B8BA2E1BE24C}"/>
              </a:ext>
            </a:extLst>
          </p:cNvPr>
          <p:cNvSpPr>
            <a:spLocks noGrp="1"/>
          </p:cNvSpPr>
          <p:nvPr>
            <p:ph type="body" idx="1"/>
          </p:nvPr>
        </p:nvSpPr>
        <p:spPr/>
        <p:txBody>
          <a:bodyPr>
            <a:normAutofit/>
          </a:bodyPr>
          <a:lstStyle/>
          <a:p>
            <a:r>
              <a:rPr lang="en-US" sz="1200" dirty="0">
                <a:latin typeface="Times New Roman" panose="02020603050405020304" pitchFamily="18" charset="0"/>
                <a:cs typeface="Times New Roman" panose="02020603050405020304" pitchFamily="18" charset="0"/>
              </a:rPr>
              <a:t>The Infant Cry Classification System successfully uses machine learning to identify different types of infant cries, such as hunger, pain, or discomfort. This helps caregivers respond more accurately to a baby's needs, enhancing early childcare. With further data and model improvements, the system can become a valuable tool in smart parenting and infant health monitoring.</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9492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20"/>
          <p:cNvPicPr preferRelativeResize="0"/>
          <p:nvPr/>
        </p:nvPicPr>
        <p:blipFill rotWithShape="1">
          <a:blip r:embed="rId3"/>
          <a:srcRect/>
          <a:stretch>
            <a:fillRect/>
          </a:stretch>
        </p:blipFill>
        <p:spPr>
          <a:xfrm>
            <a:off x="1681900" y="821400"/>
            <a:ext cx="5945350" cy="3598500"/>
          </a:xfrm>
          <a:prstGeom prst="rect">
            <a:avLst/>
          </a:prstGeom>
          <a:noFill/>
          <a:ln>
            <a:noFill/>
          </a:ln>
        </p:spPr>
      </p:pic>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885</TotalTime>
  <Words>407</Words>
  <Application>Microsoft Office PowerPoint</Application>
  <PresentationFormat>On-screen Show (16:9)</PresentationFormat>
  <Paragraphs>38</Paragraphs>
  <Slides>10</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Raleway</vt:lpstr>
      <vt:lpstr>Lato</vt:lpstr>
      <vt:lpstr>Times New Roman</vt:lpstr>
      <vt:lpstr>Arial</vt:lpstr>
      <vt:lpstr>Streamline</vt:lpstr>
      <vt:lpstr>CSMSS  Chh. Shahu College of Engineering,  Chhatrapati Sambhajinagar Department of Artificial Intelligence and Data Science  A.Y.: 2024 – 2025 Infant Cry Classification System</vt:lpstr>
      <vt:lpstr>Content:</vt:lpstr>
      <vt:lpstr>Introduction:</vt:lpstr>
      <vt:lpstr>Project Working:</vt:lpstr>
      <vt:lpstr>Technical Stack:</vt:lpstr>
      <vt:lpstr>   Webpage Visual:</vt:lpstr>
      <vt:lpstr>Output</vt:lpstr>
      <vt:lpstr>          Flowchart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Movie Revenu Prediction</dc:title>
  <dc:creator>HP</dc:creator>
  <cp:lastModifiedBy>Mayur kale</cp:lastModifiedBy>
  <cp:revision>58</cp:revision>
  <dcterms:created xsi:type="dcterms:W3CDTF">2024-11-11T10:33:17Z</dcterms:created>
  <dcterms:modified xsi:type="dcterms:W3CDTF">2025-06-24T10:43:31Z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4C16DD971B51459EBD0AA64C16E762B8_12</vt:lpwstr>
  </property>
  <property fmtid="{D5CDD505-2E9C-101B-9397-08002B2CF9AE}" pid="3" name="KSOProductBuildVer">
    <vt:lpwstr>1033-12.2.0.18607</vt:lpwstr>
  </property>
</Properties>
</file>